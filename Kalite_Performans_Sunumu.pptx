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SA DOGAN" initials="MD" lastIdx="1" clrIdx="0">
    <p:extLst>
      <p:ext uri="{19B8F6BF-5375-455C-9EA6-DF929625EA0E}">
        <p15:presenceInfo xmlns:p15="http://schemas.microsoft.com/office/powerpoint/2012/main" userId="S::MUSA.DOGAN@lcwaikiki.com::0199a4f2-837c-4def-a090-eeba577200b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1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4E"/>
                </a:solidFill>
                <a:latin typeface="Arial"/>
              </a:defRPr>
            </a:pPr>
            <a:r>
              <a:rPr lang="tr-TR" sz="1200" b="0" i="0" u="none" strike="noStrike">
                <a:solidFill>
                  <a:srgbClr val="0D1B4E"/>
                </a:solidFill>
                <a:latin typeface="Arial"/>
              </a:rPr>
              <a:t>Miktar Analizi (Milyon Adet)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Inspection Giren Miktar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ESENYURT</c:v>
                </c:pt>
                <c:pt idx="1">
                  <c:v>EROĞLU DEPO</c:v>
                </c:pt>
                <c:pt idx="2">
                  <c:v>YALOVA DEPO</c:v>
                </c:pt>
                <c:pt idx="3">
                  <c:v>TİTİZ DEPO</c:v>
                </c:pt>
                <c:pt idx="4">
                  <c:v>AKSARAY DEPO</c:v>
                </c:pt>
                <c:pt idx="5">
                  <c:v>Diğer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140.30000000000001</c:v>
                </c:pt>
                <c:pt idx="1">
                  <c:v>121.3</c:v>
                </c:pt>
                <c:pt idx="2">
                  <c:v>90.1</c:v>
                </c:pt>
                <c:pt idx="3">
                  <c:v>75.2</c:v>
                </c:pt>
                <c:pt idx="4">
                  <c:v>38.299999999999997</c:v>
                </c:pt>
                <c:pt idx="5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83-4034-917C-9501D7DFBD1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Maks. Kabul Edilebilir</c:v>
                </c:pt>
              </c:strCache>
            </c:strRef>
          </c:tx>
          <c:spPr>
            <a:solidFill>
              <a:srgbClr val="DCE8F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ESENYURT</c:v>
                </c:pt>
                <c:pt idx="1">
                  <c:v>EROĞLU DEPO</c:v>
                </c:pt>
                <c:pt idx="2">
                  <c:v>YALOVA DEPO</c:v>
                </c:pt>
                <c:pt idx="3">
                  <c:v>TİTİZ DEPO</c:v>
                </c:pt>
                <c:pt idx="4">
                  <c:v>AKSARAY DEPO</c:v>
                </c:pt>
                <c:pt idx="5">
                  <c:v>Diğer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154.30000000000001</c:v>
                </c:pt>
                <c:pt idx="1">
                  <c:v>134.5</c:v>
                </c:pt>
                <c:pt idx="2">
                  <c:v>54.7</c:v>
                </c:pt>
                <c:pt idx="3">
                  <c:v>51.8</c:v>
                </c:pt>
                <c:pt idx="4">
                  <c:v>20.2</c:v>
                </c:pt>
                <c:pt idx="5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A83-4034-917C-9501D7DFBD1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tr-T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tr-T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tr-TR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4E"/>
                </a:solidFill>
                <a:latin typeface="Arial"/>
              </a:defRPr>
            </a:pPr>
            <a:r>
              <a:rPr lang="tr-TR" sz="1200" b="0" i="0" u="none" strike="noStrike">
                <a:solidFill>
                  <a:srgbClr val="0D1B4E"/>
                </a:solidFill>
                <a:latin typeface="Arial"/>
              </a:rPr>
              <a:t>Direkt Sevk Miktarı Dağılımı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Direkt Sevk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354-416B-9619-F5ED5641D682}"/>
              </c:ext>
            </c:extLst>
          </c:dPt>
          <c:dPt>
            <c:idx val="1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354-416B-9619-F5ED5641D682}"/>
              </c:ext>
            </c:extLst>
          </c:dPt>
          <c:dPt>
            <c:idx val="2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354-416B-9619-F5ED5641D682}"/>
              </c:ext>
            </c:extLst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354-416B-9619-F5ED5641D682}"/>
              </c:ext>
            </c:extLst>
          </c:dPt>
          <c:dPt>
            <c:idx val="4"/>
            <c:bubble3D val="0"/>
            <c:spPr>
              <a:solidFill>
                <a:srgbClr val="0D1B4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354-416B-9619-F5ED5641D682}"/>
              </c:ext>
            </c:extLst>
          </c:dPt>
          <c:dPt>
            <c:idx val="5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354-416B-9619-F5ED5641D682}"/>
              </c:ext>
            </c:extLst>
          </c:dPt>
          <c:dPt>
            <c:idx val="6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354-416B-9619-F5ED5641D682}"/>
              </c:ext>
            </c:extLst>
          </c:dPt>
          <c:dPt>
            <c:idx val="7"/>
            <c:bubble3D val="0"/>
            <c:spPr>
              <a:solidFill>
                <a:srgbClr val="6366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E354-416B-9619-F5ED5641D682}"/>
              </c:ext>
            </c:extLst>
          </c:dPt>
          <c:dPt>
            <c:idx val="8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E354-416B-9619-F5ED5641D68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354-416B-9619-F5ED5641D68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354-416B-9619-F5ED5641D68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354-416B-9619-F5ED5641D682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354-416B-9619-F5ED5641D682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354-416B-9619-F5ED5641D682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354-416B-9619-F5ED5641D682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E354-416B-9619-F5ED5641D682}"/>
                </c:ext>
              </c:extLst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E354-416B-9619-F5ED5641D682}"/>
                </c:ext>
              </c:extLst>
            </c:dLbl>
            <c:dLbl>
              <c:idx val="8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E354-416B-9619-F5ED5641D68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tr-T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Sheet1!$A$2:$A$10</c:f>
              <c:strCache>
                <c:ptCount val="9"/>
                <c:pt idx="0">
                  <c:v>TÜRKİYE</c:v>
                </c:pt>
                <c:pt idx="1">
                  <c:v>BANGLADEŞ</c:v>
                </c:pt>
                <c:pt idx="2">
                  <c:v>MALEZYA</c:v>
                </c:pt>
                <c:pt idx="3">
                  <c:v>VİETNAM</c:v>
                </c:pt>
                <c:pt idx="4">
                  <c:v>ENDONEZYa</c:v>
                </c:pt>
                <c:pt idx="5">
                  <c:v>HİNDİSTAN</c:v>
                </c:pt>
                <c:pt idx="6">
                  <c:v>KAMBOÇYA</c:v>
                </c:pt>
                <c:pt idx="7">
                  <c:v>THAILAND</c:v>
                </c:pt>
                <c:pt idx="8">
                  <c:v>Diğer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59493916</c:v>
                </c:pt>
                <c:pt idx="1">
                  <c:v>63989985</c:v>
                </c:pt>
                <c:pt idx="2">
                  <c:v>1434768</c:v>
                </c:pt>
                <c:pt idx="3">
                  <c:v>52704</c:v>
                </c:pt>
                <c:pt idx="4">
                  <c:v>261221</c:v>
                </c:pt>
                <c:pt idx="5">
                  <c:v>648608</c:v>
                </c:pt>
                <c:pt idx="6">
                  <c:v>28476</c:v>
                </c:pt>
                <c:pt idx="7">
                  <c:v>692026</c:v>
                </c:pt>
                <c:pt idx="8">
                  <c:v>6222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E354-416B-9619-F5ED5641D6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/>
          </a:pPr>
          <a:endParaRPr lang="tr-TR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4E"/>
                </a:solidFill>
                <a:latin typeface="Arial"/>
              </a:defRPr>
            </a:pPr>
            <a:r>
              <a:rPr lang="tr-TR" sz="1100" b="0" i="0" u="none" strike="noStrike">
                <a:solidFill>
                  <a:srgbClr val="0D1B4E"/>
                </a:solidFill>
                <a:latin typeface="Arial"/>
              </a:rPr>
              <a:t>Lokasyon Bazlı Miktar (Binler)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Giren Miktar (K)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AKSARAY DEPO</c:v>
                </c:pt>
                <c:pt idx="1">
                  <c:v>EROĞLU DEPO</c:v>
                </c:pt>
                <c:pt idx="2">
                  <c:v>ESENYURT DEPO</c:v>
                </c:pt>
                <c:pt idx="3">
                  <c:v>TİTİZ DEPO</c:v>
                </c:pt>
                <c:pt idx="4">
                  <c:v>YALOVA DEPO</c:v>
                </c:pt>
                <c:pt idx="5">
                  <c:v>Diğer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21.692</c:v>
                </c:pt>
                <c:pt idx="1">
                  <c:v>116.557</c:v>
                </c:pt>
                <c:pt idx="2">
                  <c:v>130.072</c:v>
                </c:pt>
                <c:pt idx="3">
                  <c:v>71.492999999999995</c:v>
                </c:pt>
                <c:pt idx="4">
                  <c:v>58.831000000000003</c:v>
                </c:pt>
                <c:pt idx="5">
                  <c:v>30.792999999999999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75-49BE-8363-048630AB0BB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Kontrol Edilen (K)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AKSARAY DEPO</c:v>
                </c:pt>
                <c:pt idx="1">
                  <c:v>EROĞLU DEPO</c:v>
                </c:pt>
                <c:pt idx="2">
                  <c:v>ESENYURT DEPO</c:v>
                </c:pt>
                <c:pt idx="3">
                  <c:v>TİTİZ DEPO</c:v>
                </c:pt>
                <c:pt idx="4">
                  <c:v>YALOVA DEPO</c:v>
                </c:pt>
                <c:pt idx="5">
                  <c:v>Diğer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939</c:v>
                </c:pt>
                <c:pt idx="1">
                  <c:v>2768</c:v>
                </c:pt>
                <c:pt idx="2">
                  <c:v>4646</c:v>
                </c:pt>
                <c:pt idx="3">
                  <c:v>2307</c:v>
                </c:pt>
                <c:pt idx="4">
                  <c:v>2009</c:v>
                </c:pt>
                <c:pt idx="5">
                  <c:v>665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C75-49BE-8363-048630AB0B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tr-T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tr-T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tr-TR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7335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sunum genel kalite performans tablosundan üretilmiştir. Açılışta toplam inspection hacmini ve genel geçme oranını vurgulayın.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Aksiyon noktalarını departman sorumluları ile paylaşın. Kapasite açığı kritik iki lokasyon için acil plan yapılmalıdır.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05840"/>
            <a:ext cx="2560320" cy="347472"/>
          </a:xfrm>
          <a:prstGeom prst="roundRect">
            <a:avLst>
              <a:gd name="adj" fmla="val 2631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1100" b="1" dirty="0">
                <a:solidFill>
                  <a:srgbClr val="FFFFFF"/>
                </a:solidFill>
              </a:rPr>
              <a:t>INSPECTION MÜDÜRLÜĞÜ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</a:rPr>
              <a:t>Ka</a:t>
            </a:r>
            <a:r>
              <a:rPr lang="tr-TR" sz="4600" b="1" dirty="0" err="1">
                <a:solidFill>
                  <a:srgbClr val="FFFFFF"/>
                </a:solidFill>
              </a:rPr>
              <a:t>pasite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</a:rPr>
              <a:t>Performans Raporu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 err="1">
                <a:solidFill>
                  <a:srgbClr val="A0C4CF"/>
                </a:solidFill>
              </a:rPr>
              <a:t>İnspe</a:t>
            </a:r>
            <a:r>
              <a:rPr lang="tr-TR" sz="1500" dirty="0" err="1">
                <a:solidFill>
                  <a:srgbClr val="A0C4CF"/>
                </a:solidFill>
              </a:rPr>
              <a:t>ction</a:t>
            </a:r>
            <a:r>
              <a:rPr lang="en-US" sz="1500" dirty="0">
                <a:solidFill>
                  <a:srgbClr val="A0C4CF"/>
                </a:solidFill>
              </a:rPr>
              <a:t> • Sevk Dışı Kapasite • Ülke Bazlı Analiz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4160520"/>
            <a:ext cx="2057400" cy="804672"/>
          </a:xfrm>
          <a:prstGeom prst="roundRect">
            <a:avLst>
              <a:gd name="adj" fmla="val 909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16966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</a:rPr>
              <a:t>637,7M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ECDD6"/>
                </a:solidFill>
              </a:rPr>
              <a:t>Inspection Giren Miktar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0" y="4160520"/>
            <a:ext cx="2057400" cy="804672"/>
          </a:xfrm>
          <a:prstGeom prst="roundRect">
            <a:avLst>
              <a:gd name="adj" fmla="val 909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416966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</a:rPr>
              <a:t>%75,87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43200" y="457200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ECDD6"/>
                </a:solidFill>
              </a:rPr>
              <a:t>Geçen Miktar Oranı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0" y="4160520"/>
            <a:ext cx="2057400" cy="804672"/>
          </a:xfrm>
          <a:prstGeom prst="roundRect">
            <a:avLst>
              <a:gd name="adj" fmla="val 909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416966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</a:rPr>
              <a:t>%3,34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029200" y="457200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ECDD6"/>
                </a:solidFill>
              </a:rPr>
              <a:t>Gerçekleşen AQL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0" y="4160520"/>
            <a:ext cx="2057400" cy="804672"/>
          </a:xfrm>
          <a:prstGeom prst="roundRect">
            <a:avLst>
              <a:gd name="adj" fmla="val 909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0" y="416966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</a:rPr>
              <a:t>%2,67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315200" y="457200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ECDD6"/>
                </a:solidFill>
              </a:rPr>
              <a:t>Tamire Giren Oran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E"/>
          </a:solidFill>
          <a:ln w="12700">
            <a:solidFill>
              <a:srgbClr val="0D1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GENEL KALİTE PERFORMANS TABLOSU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1031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822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" y="1188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4E"/>
                </a:solidFill>
              </a:rPr>
              <a:t>637.699.566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67335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Inspection Giren Miktar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777240"/>
            <a:ext cx="21031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822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468880" y="1188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</a:rPr>
              <a:t>483.824.231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68880" y="167335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Geçen Miktar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777240"/>
            <a:ext cx="21031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09160" y="822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🏷️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09160" y="1188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</a:rPr>
              <a:t>136.595.905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09160" y="167335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Ticari Onaylayla Geçen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49440" y="777240"/>
            <a:ext cx="21031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49440" y="822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949440" y="1188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</a:rPr>
              <a:t>17.020.750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49440" y="167335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Tamire Giren Miktar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0" y="237744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239572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</a:rPr>
              <a:t>%75,87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14400" y="291693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Geçen Miktar Oranı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0" y="237744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474720" y="239572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</a:rPr>
              <a:t>%21,42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474720" y="291693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Ticari Onayla Geçen Oran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237744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035040" y="239572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</a:rPr>
              <a:t>%2,67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035040" y="291693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Tamire Giren Miktar Oranı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3566160"/>
            <a:ext cx="8686800" cy="1389888"/>
          </a:xfrm>
          <a:prstGeom prst="roundRect">
            <a:avLst>
              <a:gd name="adj" fmla="val 6579"/>
            </a:avLst>
          </a:prstGeom>
          <a:solidFill>
            <a:srgbClr val="0D1B4E"/>
          </a:solidFill>
          <a:ln w="12700">
            <a:solidFill>
              <a:srgbClr val="0D1B4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6118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</a:rPr>
              <a:t>Gerçekleşen AQL: %3,34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57200" y="40965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4CF"/>
                </a:solidFill>
              </a:rPr>
              <a:t>Kontrol Edilen Miktar: 21.271.614  |  Ticari Onayla Geçen: 136.595.905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3611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</a:rPr>
              <a:t>21.271.614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217920" y="40965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C4CF"/>
                </a:solidFill>
              </a:rPr>
              <a:t>Inspection Kontrol Edilen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572000" cy="45720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2926080" cy="347472"/>
          </a:xfrm>
          <a:prstGeom prst="roundRect">
            <a:avLst>
              <a:gd name="adj" fmla="val 2631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KABUL KRİTERLERİ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Hesaplama Bazı &amp; Kalite Eşikleri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618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📅  Çalışma Günü Hesabı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755648"/>
            <a:ext cx="3840480" cy="438912"/>
          </a:xfrm>
          <a:prstGeom prst="roundRect">
            <a:avLst>
              <a:gd name="adj" fmla="val 125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E2E8F0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7393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060"/>
                </a:solidFill>
              </a:rPr>
              <a:t>Çalışılan Gün Sayısı</a:t>
            </a:r>
          </a:p>
        </p:txBody>
      </p:sp>
      <p:sp>
        <p:nvSpPr>
          <p:cNvPr id="10" name="Text 8"/>
          <p:cNvSpPr/>
          <p:nvPr/>
        </p:nvSpPr>
        <p:spPr>
          <a:xfrm>
            <a:off x="3017520" y="177393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C39A"/>
                </a:solidFill>
              </a:rPr>
              <a:t>265 gün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286000"/>
            <a:ext cx="3840480" cy="438912"/>
          </a:xfrm>
          <a:prstGeom prst="roundRect">
            <a:avLst>
              <a:gd name="adj" fmla="val 125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2E8F0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30428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060"/>
                </a:solidFill>
              </a:rPr>
              <a:t>Pazar Günü (çıkarılan)</a:t>
            </a:r>
          </a:p>
        </p:txBody>
      </p:sp>
      <p:sp>
        <p:nvSpPr>
          <p:cNvPr id="13" name="Text 11"/>
          <p:cNvSpPr/>
          <p:nvPr/>
        </p:nvSpPr>
        <p:spPr>
          <a:xfrm>
            <a:off x="3017520" y="230428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C39A"/>
                </a:solidFill>
              </a:rPr>
              <a:t>52 gün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2816352"/>
            <a:ext cx="3840480" cy="438912"/>
          </a:xfrm>
          <a:prstGeom prst="roundRect">
            <a:avLst>
              <a:gd name="adj" fmla="val 125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E2E8F0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83464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060"/>
                </a:solidFill>
              </a:rPr>
              <a:t>Resmi Tatiller</a:t>
            </a:r>
          </a:p>
        </p:txBody>
      </p:sp>
      <p:sp>
        <p:nvSpPr>
          <p:cNvPr id="16" name="Text 14"/>
          <p:cNvSpPr/>
          <p:nvPr/>
        </p:nvSpPr>
        <p:spPr>
          <a:xfrm>
            <a:off x="3017520" y="283464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C39A"/>
                </a:solidFill>
              </a:rPr>
              <a:t>15,5 gün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3346704"/>
            <a:ext cx="3840480" cy="438912"/>
          </a:xfrm>
          <a:prstGeom prst="roundRect">
            <a:avLst>
              <a:gd name="adj" fmla="val 125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2E8F0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36499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060"/>
                </a:solidFill>
              </a:rPr>
              <a:t>Yıllık İzin &amp; Mazaret Hakkı</a:t>
            </a:r>
          </a:p>
        </p:txBody>
      </p:sp>
      <p:sp>
        <p:nvSpPr>
          <p:cNvPr id="19" name="Text 17"/>
          <p:cNvSpPr/>
          <p:nvPr/>
        </p:nvSpPr>
        <p:spPr>
          <a:xfrm>
            <a:off x="3017520" y="336499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C39A"/>
                </a:solidFill>
              </a:rPr>
              <a:t>21,5 gün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" y="3877056"/>
            <a:ext cx="3840480" cy="438912"/>
          </a:xfrm>
          <a:prstGeom prst="roundRect">
            <a:avLst>
              <a:gd name="adj" fmla="val 125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E2E8F0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8953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060"/>
                </a:solidFill>
              </a:rPr>
              <a:t>Devamsızlık Karşılığı</a:t>
            </a:r>
          </a:p>
        </p:txBody>
      </p:sp>
      <p:sp>
        <p:nvSpPr>
          <p:cNvPr id="22" name="Text 20"/>
          <p:cNvSpPr/>
          <p:nvPr/>
        </p:nvSpPr>
        <p:spPr>
          <a:xfrm>
            <a:off x="3017520" y="389534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C39A"/>
                </a:solidFill>
              </a:rPr>
              <a:t>11 gün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12618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⚙️  Kalite Eşikleri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1719072"/>
            <a:ext cx="397764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83480" y="17556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0000"/>
                </a:solidFill>
              </a:rPr>
              <a:t>🔍  Tamir Oranı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713232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F59E0B"/>
                </a:solidFill>
              </a:rPr>
              <a:t>3,89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983480" y="215798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2060"/>
                </a:solidFill>
              </a:rPr>
              <a:t>Inspection'a fiili olarak giren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2060"/>
                </a:solidFill>
              </a:rPr>
              <a:t>adet içindeki orandır</a:t>
            </a:r>
          </a:p>
        </p:txBody>
      </p:sp>
      <p:sp>
        <p:nvSpPr>
          <p:cNvPr id="28" name="Shape 26"/>
          <p:cNvSpPr/>
          <p:nvPr/>
        </p:nvSpPr>
        <p:spPr>
          <a:xfrm>
            <a:off x="4846320" y="2724912"/>
            <a:ext cx="397764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83480" y="27614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0000"/>
                </a:solidFill>
              </a:rPr>
              <a:t>📊  AQL Oranı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7132320" y="2743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F59E0B"/>
                </a:solidFill>
              </a:rPr>
              <a:t>%3,15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983480" y="316382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2060"/>
                </a:solidFill>
              </a:rPr>
              <a:t>Kabul kalite seviyesi eşiği</a:t>
            </a:r>
          </a:p>
        </p:txBody>
      </p:sp>
      <p:sp>
        <p:nvSpPr>
          <p:cNvPr id="32" name="Shape 30"/>
          <p:cNvSpPr/>
          <p:nvPr/>
        </p:nvSpPr>
        <p:spPr>
          <a:xfrm>
            <a:off x="4846320" y="3730752"/>
            <a:ext cx="397764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983480" y="37673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0000"/>
                </a:solidFill>
              </a:rPr>
              <a:t>📉  Seyreltme Oranı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7132320" y="3749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F59E0B"/>
                </a:solidFill>
              </a:rPr>
              <a:t>%32,3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4983480" y="416966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2060"/>
                </a:solidFill>
              </a:rPr>
              <a:t>Sistemsel ve manuel seyreltmelerin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2060"/>
                </a:solidFill>
              </a:rPr>
              <a:t>toplamının oranıdır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E"/>
          </a:solidFill>
          <a:ln w="12700">
            <a:solidFill>
              <a:srgbClr val="0D1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DİREKT SEVK DIŞI KAPASİTE ÖZETİ</a:t>
            </a:r>
            <a:endParaRPr lang="en-US" sz="1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31520"/>
          <a:ext cx="53035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749808"/>
            <a:ext cx="301752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89320" y="78638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</a:rPr>
              <a:t>92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989320" y="124358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Toplam Inspector Sayısı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989320" y="14447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mevcut inspektör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852160" y="1773936"/>
            <a:ext cx="301752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89320" y="181051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</a:rPr>
              <a:t>134,28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989320" y="22677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Gereken Inspector Sayısı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89320" y="2468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ihtiyaç duyulan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852160" y="2798064"/>
            <a:ext cx="301752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989320" y="28346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4444"/>
                </a:solidFill>
              </a:rPr>
              <a:t>61,4M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5989320" y="32918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Kapasite Farkı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989320" y="34930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adet açık kapasite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852160" y="3822192"/>
            <a:ext cx="301752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989320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</a:rPr>
              <a:t>%3,35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5989320" y="43159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Gerçekleşen AQL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989320" y="451713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sevk dışı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İNSPEKTÖR KAPASİTE ANALİZİ — LOKASYON BAZLI</a:t>
            </a:r>
            <a:endParaRPr lang="en-US" sz="1600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11C0F5E8-8428-4E3C-B0B1-783D6263C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197" y="729859"/>
            <a:ext cx="8283039" cy="43723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E"/>
          </a:solidFill>
          <a:ln w="12700">
            <a:solidFill>
              <a:srgbClr val="0D1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ÜLKE BAZINDA DİREKT SEVK GÖRÜNÜMÜ</a:t>
            </a:r>
            <a:endParaRPr lang="en-US" sz="1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49808"/>
          <a:ext cx="43891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397426"/>
              </p:ext>
            </p:extLst>
          </p:nvPr>
        </p:nvGraphicFramePr>
        <p:xfrm>
          <a:off x="4710941" y="733064"/>
          <a:ext cx="4389120" cy="437071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70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Ülke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Toplam Giren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Direkt Sevk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Oran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0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TÜRKİYE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402.146.509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59.493.916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%14,79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70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BANGLADEŞ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92.158.967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63.989.985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%69,43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70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MALEZYA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1.752.576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1.434.768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%81,87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70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VİETNAM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117.075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52.704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%45,02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70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ENDONEZYa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893.307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261.221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%29,24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70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HİNDİSTAN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12.073.567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648.608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%5,37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70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KAMBOÇYA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206.609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28.476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%13,78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70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THAILAND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946.116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692.026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%73,14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70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D1B4E"/>
                          </a:solidFill>
                        </a:rPr>
                        <a:t>TOPLAM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1B4E"/>
                          </a:solidFill>
                        </a:rPr>
                        <a:t>637.699.566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1B4E"/>
                          </a:solidFill>
                        </a:rPr>
                        <a:t>129.807.974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1B4E"/>
                          </a:solidFill>
                        </a:rPr>
                        <a:t>%20,36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DİREKT SEVK DIŞI KAPASİTE GÖRÜNÜMÜ</a:t>
            </a:r>
            <a:endParaRPr lang="en-US" sz="18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622015044"/>
              </p:ext>
            </p:extLst>
          </p:nvPr>
        </p:nvGraphicFramePr>
        <p:xfrm>
          <a:off x="274320" y="749808"/>
          <a:ext cx="5379521" cy="23377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9343199"/>
              </p:ext>
            </p:extLst>
          </p:nvPr>
        </p:nvGraphicFramePr>
        <p:xfrm>
          <a:off x="59376" y="3131820"/>
          <a:ext cx="5594465" cy="1965960"/>
        </p:xfrm>
        <a:graphic>
          <a:graphicData uri="http://schemas.openxmlformats.org/drawingml/2006/table">
            <a:tbl>
              <a:tblPr/>
              <a:tblGrid>
                <a:gridCol w="1243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0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0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6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39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16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39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Lokasyon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Giren Miktar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Kontrol Edilen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Tamir Oranı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AQL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Inspector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Gereken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AKSARAY DEPO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21.692.692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939.020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%1,67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</a:rPr>
                        <a:t>%4,29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7,87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EROĞLU DEPO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116.556.512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2.767.597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%3,86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</a:rPr>
                        <a:t>%2,37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23,21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ESENYURT DEPO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130.071.893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4.646.159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%4,79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</a:rPr>
                        <a:t>%3,57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38,96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TİTİZ DEPO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71.492.860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2.307.221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%5,09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</a:rPr>
                        <a:t>%3,23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19,35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YALOVA DEPO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58.831.197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2.008.624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%3,15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</a:rPr>
                        <a:t>%3,41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16,84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Diğer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30.793.451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665.154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%0,68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</a:rPr>
                        <a:t>%2,16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5,58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D1B4E"/>
                          </a:solidFill>
                        </a:rPr>
                        <a:t>TOPLAM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1B4E"/>
                          </a:solidFill>
                        </a:rPr>
                        <a:t>431.322.866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1B4E"/>
                          </a:solidFill>
                        </a:rPr>
                        <a:t>13.454.912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1B4E"/>
                          </a:solidFill>
                        </a:rPr>
                        <a:t>%3,89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1B4E"/>
                          </a:solidFill>
                        </a:rPr>
                        <a:t>%3,12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1B4E"/>
                          </a:solidFill>
                        </a:rPr>
                        <a:t>92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D1B4E"/>
                          </a:solidFill>
                        </a:rPr>
                        <a:t>112,83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715000" y="777240"/>
            <a:ext cx="15544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715000" y="868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4E"/>
                </a:solidFill>
              </a:rPr>
              <a:t>431,3M</a:t>
            </a:r>
            <a:endParaRPr lang="en-US" sz="2200" dirty="0"/>
          </a:p>
        </p:txBody>
      </p:sp>
      <p:sp>
        <p:nvSpPr>
          <p:cNvPr id="5" name="Text 4"/>
          <p:cNvSpPr/>
          <p:nvPr/>
        </p:nvSpPr>
        <p:spPr>
          <a:xfrm>
            <a:off x="5715000" y="15270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Toplam Giren Miktar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7406640" y="777240"/>
            <a:ext cx="15544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7406640" y="868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</a:rPr>
              <a:t>13,5M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7406640" y="15270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Kontrol Edilen Miktar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5715000" y="2240280"/>
            <a:ext cx="15544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715000" y="2331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%3,89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5715000" y="29900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Tamir Oranı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7406640" y="2240280"/>
            <a:ext cx="15544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7406640" y="2331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96"/>
                </a:solidFill>
              </a:rPr>
              <a:t>%3,12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7406640" y="29900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Gerçekleşen AQL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715000" y="3703320"/>
            <a:ext cx="15544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5715000" y="37947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</a:rPr>
              <a:t>92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5715000" y="445312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Mevcut Inspector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7406640" y="3703320"/>
            <a:ext cx="15544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7406640" y="37947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</a:rPr>
              <a:t>112,83</a:t>
            </a:r>
            <a:endParaRPr lang="en-US" sz="2200" dirty="0"/>
          </a:p>
        </p:txBody>
      </p:sp>
      <p:sp>
        <p:nvSpPr>
          <p:cNvPr id="23" name="Text 19"/>
          <p:cNvSpPr/>
          <p:nvPr/>
        </p:nvSpPr>
        <p:spPr>
          <a:xfrm>
            <a:off x="7406640" y="445312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Gereken Inspector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4572000" cy="45720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01168"/>
            <a:ext cx="2194560" cy="365760"/>
          </a:xfrm>
          <a:prstGeom prst="roundRect">
            <a:avLst>
              <a:gd name="adj" fmla="val 25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SONUÇ &amp; AKSİYONLAR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Kritik Bulgular &amp; Öneriler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207008"/>
            <a:ext cx="4114800" cy="1078992"/>
          </a:xfrm>
          <a:prstGeom prst="roundRect">
            <a:avLst>
              <a:gd name="adj" fmla="val 8475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028090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618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⚠️  Kapasite Açığı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60934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6EE"/>
                </a:solidFill>
              </a:rPr>
              <a:t>Direkt sevk dışı toplam 61,4M adetlik kapasite açığı tespit edildi. Mevcut 92 inspektör, gereken 134,28'in altında.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207008"/>
            <a:ext cx="4114800" cy="1078992"/>
          </a:xfrm>
          <a:prstGeom prst="roundRect">
            <a:avLst>
              <a:gd name="adj" fmla="val 8475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028090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2618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🔴  ESENYURT &amp; EROĞLU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160934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6EE"/>
                </a:solidFill>
              </a:rPr>
              <a:t>Bu iki lokasyon negatif kapasite farkına sahip (-13,9M ve -13,2M). Öncelikli destek sağlanmalı.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441448"/>
            <a:ext cx="4114800" cy="1078992"/>
          </a:xfrm>
          <a:prstGeom prst="roundRect">
            <a:avLst>
              <a:gd name="adj" fmla="val 8475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028090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4963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✅  TÜRKİYE Başarısı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284378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6EE"/>
                </a:solidFill>
              </a:rPr>
              <a:t>Türkiye 402M adet üretimde yalnızca %14,79 direkt sevk oranıyla kalite kontrolünde etkin.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441448"/>
            <a:ext cx="4114800" cy="1078992"/>
          </a:xfrm>
          <a:prstGeom prst="roundRect">
            <a:avLst>
              <a:gd name="adj" fmla="val 8475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028090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24963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📊  AQL Uyumu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284378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6EE"/>
                </a:solidFill>
              </a:rPr>
              <a:t>Gerçekleşen AQL %3,34, hedef %3,15'e yakın. Seyreltme oranı %32,3 ile izlenmeli.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675888"/>
            <a:ext cx="4114800" cy="1078992"/>
          </a:xfrm>
          <a:prstGeom prst="roundRect">
            <a:avLst>
              <a:gd name="adj" fmla="val 8475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028090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7307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🔧  Tamir Oranı İzleme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407822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6EE"/>
                </a:solidFill>
              </a:rPr>
              <a:t>Tamir oranı 3,89 olarak gerçekleşti. TİTİZ DEPO %5,09 ile dikkat gerektiriyor.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3675888"/>
            <a:ext cx="4114800" cy="1078992"/>
          </a:xfrm>
          <a:prstGeom prst="roundRect">
            <a:avLst>
              <a:gd name="adj" fmla="val 8475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028090">
                <a:alpha val="4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7307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🌍  BANGLADEŞ Riski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83480" y="407822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6EE"/>
                </a:solidFill>
              </a:rPr>
              <a:t>BANGLADEŞ %69,43 direkt sevk oranıyla en yüksek risk konumunda; yerinde denetim artırılmalı.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8A96"/>
                </a:solidFill>
              </a:rPr>
              <a:t>Tüm veriler Genel Kalite Performans Tablosundan alınmıştır — Çalışılan Gün Bazı: 265 Gün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567</Words>
  <Application>Microsoft Office PowerPoint</Application>
  <PresentationFormat>Ekran Gösterisi (16:9)</PresentationFormat>
  <Paragraphs>221</Paragraphs>
  <Slides>8</Slides>
  <Notes>8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Genel Kalite Performans Sunumu</dc:title>
  <dc:subject>PptxGenJS Presentation</dc:subject>
  <dc:creator>PptxGenJS</dc:creator>
  <cp:lastModifiedBy>MUSA DOGAN</cp:lastModifiedBy>
  <cp:revision>4</cp:revision>
  <dcterms:created xsi:type="dcterms:W3CDTF">2026-06-09T11:02:43Z</dcterms:created>
  <dcterms:modified xsi:type="dcterms:W3CDTF">2026-06-15T06:04:23Z</dcterms:modified>
</cp:coreProperties>
</file>